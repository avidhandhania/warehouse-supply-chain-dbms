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74519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  <a:latin typeface="Calibri"/>
              </a:rPr>
              <a:t>Warehouse and Supply Chain Management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3108960" y="3310128"/>
            <a:ext cx="59436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444444"/>
                </a:solidFill>
                <a:latin typeface="Calibri"/>
              </a:rPr>
              <a:t>Digital Assignment 1, Database Management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1" i="0">
                <a:solidFill>
                  <a:srgbClr val="000000"/>
                </a:solidFill>
                <a:latin typeface="Calibri"/>
              </a:rPr>
              <a:t>ER / EER Model and Normalization up to BCNF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257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problem, objectives and scope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Entities, attributes and relationships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ER model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EER model: specialization, generalization and aggregation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Turning the model into tables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Sample data and the functional dependencies it reveals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Normalization: UNF to 1NF to 2NF to 3NF to BCNF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 decomposition end to end, the final schema, and what comes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trouble is not missing data, it is the same data stored more than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warehouse must always know: what stock is where, who supplies it, and where each order has reached.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practice those three answers live in three separate places, and nothing keeps them in agreement.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same fact gets stored twice: a customer's address on every order, a product's name on every order 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Correct one copy, miss another, and the data contradicts itself.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What That Duplication Costs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Insert problem: a new customer cannot be recorded until they place an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Delete problem: deleting a customer's last order erases the customer.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Update problem: renaming a product means editing many rows, and missing one leaves two answers.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Unreliable stock: the quantity on hand is kept in more than one place.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These are the insert, delete and update anomalies. Normalization removes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1. Objectives and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Identify the entities, attributes and relationships.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 the ER model, then extend the same model into an EER model.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Convert the model into relational tables.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Work out the functional dependencies from sample rows.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Normalize every table from UNF up to BCNF, showing each step.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scope: 9 entities, namely warehouse, product, supplier, customer, orders, shipment, return, inspection and employee.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Out of scope: SQL and PL/SQL (DA2), and a modern database (DA3).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2. The Nine Entities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key attribute identifies one row, and is underlined in every diagram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38047" y="2061972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286000"/>
                <a:gridCol w="603504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Entity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Key attribute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00000"/>
                          </a:solidFill>
                        </a:rPr>
                        <a:t>Other attributes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WarehouseID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WName, City, Capacity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PName, Category, UnitPrice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SupplierID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SName, City, Phone (many per supplier)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CustomerID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CName, Address (Street + City + Pincode),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OrderDate, Status, TotalAmt (calculated)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ShipmentID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DispatchDate, DeliveryDate, 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ReturnDate, Reason, RefundAmt, Status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INSPECTION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InspDate, Result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EmpID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000000"/>
                          </a:solidFill>
                        </a:rPr>
                        <a:t>EName, Role, Salary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3. The Twelve Relationships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1:1 means one row on each side, 1:N one to many, M:N many on both sides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798167" y="1517904"/>
          <a:ext cx="8595360" cy="5230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206240"/>
                <a:gridCol w="128016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Relationship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Between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Type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SUPPLIER - 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STORED_IN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CONTAINS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WORKS_AT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EMPLOYEE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PLACES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CUSTOMER - ORDERS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SHIPPED_BY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SHIPMENT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DISPATCHED_FROM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SHIPMENT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MANAGES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EMPLOYEE - WAREHOUSE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RETURNED_FOR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ORDERS - GOODS_RETURN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RETURNED_TO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WAREHOUSE - GOODS_RETURN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1:N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SUPPLIER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CHECKS_PRODUCT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INSPECTION - PRODUCT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N:1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4. The ER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MANAGES is the one 1:1 relationship; INSPECTION needs two links because plain ER cannot point at a pair</a:t>
            </a:r>
          </a:p>
        </p:txBody>
      </p:sp>
      <p:pic>
        <p:nvPicPr>
          <p:cNvPr id="5" name="Picture 4" descr="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470" y="1463040"/>
            <a:ext cx="9912753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EER Model, the Same Design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5359" y="1078992"/>
            <a:ext cx="7980975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Specialization and Generalization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difference is the direction, not the drawing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Specialization works downwards, from a type we already had to its kinds.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EMPLOYEE existed; splitting it gives MANAGER (Level, Bonus) and DRIVER (LicenseNo, Expiry). Total and disjoint.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PRODUCT existed; PERISHABLE_PRODUCT and HAZARDOUS_PRODUCT are partial (most products are neither) and overlapping (a vaccine is both), so that circle is marked o and not 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Generalization works upwards, from types we already had to what they share.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SHIPMENT and GOODS_RETURN were both in the ER model. Both are one order's goods moving on a date with a status, so GOODS_MOVEMENT is created above them.</a:t>
            </a:r>
          </a:p>
          <a:p>
            <a:pPr lvl="1">
              <a:spcAft>
                <a:spcPts val="900"/>
              </a:spcAft>
            </a:pPr>
            <a:r>
              <a:rPr sz="1300">
                <a:solidFill>
                  <a:srgbClr val="444444"/>
                </a:solidFill>
                <a:latin typeface="Calibri"/>
              </a:rPr>
              <a:t>-  Their two links to ORDERS and WAREHOUSE become one each, and ShipmentID and ReturnID collapse into MovementID.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000000"/>
                </a:solidFill>
                <a:latin typeface="Calibri"/>
              </a:rPr>
              <a:t>•  Same shape on paper, same mapping to tables, opposite directions of reasoning.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Aggregation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a relationship treated as one higher-level object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is of one supplier's supply of one product.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Not of the supplier, and not of the product, which is why the ER model needed two separate links and still could not say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the whole SUPPLIER, SUPPLIES, PRODUCT arrangement is boxed and treated as one object, and INSPECTION joins the box.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In tables: the aggregate is the SUPPLIES table, and INSPECTION carries SupplierID with ProductID as a single foreign key into it.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An inspection therefore cannot name a pair that is not actually supplied.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Aggregation on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er_aggre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24" y="1078992"/>
            <a:ext cx="7290645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What EER Added, and Why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addition describes something plain ER cannot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32407" y="1860804"/>
          <a:ext cx="9326880" cy="4425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5120640"/>
              </a:tblGrid>
              <a:tr h="402336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EER feature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</a:rPr>
                        <a:t>Where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Weak entity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ORDER_ITEM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to MANAGER, DRIVER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Specialization (partial, overlapping)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PRODUCT to PERISHABLE_PRODUCT, HAZARDOUS_PRODUCT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Multivalued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SUPPLIER.Phone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Composite attribute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CUSTOMER.Address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Derived attribute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ORDERS.TotalAmt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Recursive relationship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EMPLOYEE SUPERVISES EMPLOYEE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Generalization (total, disjoint)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SHIPMENT + GOODS_RETURN to GOODS_MOVEMENT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Aggregation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SUPPLIER SUPPLIES PRODUCT, then INSPECTED_IN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1:1 relationship made precise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00000"/>
                          </a:solidFill>
                        </a:rPr>
                        <a:t>WAREHOUSE MANAGES to MANAGER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5. The Weak Entity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why ORDER_ITEM is drawn differently from every other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ORDER_ITEM cannot exist on its own, an order line means nothing without its order.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ItemNo (1, 2, 3 and so on) is only unique inside one order, so it is a partial key, shown with a dashed underline.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Its real key is therefore OrderID + ItemNo.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Drawn with a double border, and the diamond joining it to ORDERS is a double diamond, meaning that relationship gives it its identity.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It replaces the M:N CONTAINS relationship from the ER model.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6. Turning the Model into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standard mapping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entity becomes one table, and its key attribute becomes the primary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1:N relationship becomes a foreign key stored on the 'many' side.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M:N relationship becomes a new table whose primary key is the two keys put together.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multivalued attribute becomes its own small table.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composite attribute becomes one column per part.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derived attribute is not stored at all, it is calculated when needed.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weak entity becomes a table keyed by its owner's key plus its own partial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specialization becomes one table per subclass, each sharing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generalization is mapped the same way: one table for the superclass and one for each subclass, each subclass keyed by the superclass's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Each 1:1 relationship becomes a foreign key on the side where taking part is compulsory, with a UNIQUE constraint so that one row cannot be claimed twice.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An aggregation becomes a foreign key pointing at the primary key of the table the aggregated relationship produced.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Why Sample Data Comes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the dependencies drive every split that follows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A functional dependency X -&gt; Y means: if you know X, then Y is fixed.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Example, CustID -&gt; CName: once the customer ID is known, the name is decided.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normal form is a rule about which dependencies a table may contain, so the dependencies have to be settled before any splitting starts.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Data cannot prove a dependency, but two rows can kill one: agree on X, disagree on Y, and X -&gt; Y is gone.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So every relation gets at least five rows, and every candidate dependency is checked against them.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The Sample Rows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ORDER_LINE rows are numbered 1 to 7 from the top</a:t>
            </a:r>
          </a:p>
        </p:txBody>
      </p:sp>
      <p:pic>
        <p:nvPicPr>
          <p:cNvPr id="5" name="Picture 4" descr="sample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421" y="1463040"/>
            <a:ext cx="9968851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That Hold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each one survives every sample row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657600"/>
                <a:gridCol w="6583680"/>
              </a:tblGrid>
              <a:tr h="40233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Dependency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000000"/>
                          </a:solidFill>
                        </a:rPr>
                        <a:t>Read off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OrderID -&gt; OrderDate, Status,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O-101 in rows 1 and 2, O-105 in rows 6 and 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CustID -&gt; CName, Street,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C-01 in rows 1, 2, 4; C-03 in rows 3, 6, 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City -&gt; State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Chennai is always Tamil Nadu, Mumbai always Maharashtra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ProductID -&gt; PName, Category, Price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P-100 is 480 twice, P-104 is 132 twice, P-210 is 96 twice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ProductID}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the pair is unique, and neither half works alone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DriverID -&gt; City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D-05 is always Chennai, D-09 always Mumbai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{OrderID, City}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no two rows share an OrderID and a City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F8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Phone -&gt; SupplierID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00000"/>
                          </a:solidFill>
                        </a:rPr>
                        <a:t>each number belongs to one supplier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Dependencies the Data Rules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two rows that agree on the left and disagree on the right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18007" y="2263140"/>
          <a:ext cx="1115568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108960"/>
                <a:gridCol w="7132320"/>
              </a:tblGrid>
              <a:tr h="40233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Ref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Rejected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00000"/>
                          </a:solidFill>
                        </a:rPr>
                        <a:t>Counterexample</a:t>
                      </a:r>
                    </a:p>
                  </a:txBody>
                  <a:tcPr anchor="ctr">
                    <a:solidFill>
                      <a:srgbClr val="D9D9D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N1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ProductID -&gt; Qty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P-100 is ordered 20 times on O-101 and 15 times on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2: O-101 holds both P-100 and P-104.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N3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CustID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Chennai holds C-01 and also C-05.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Category -&gt; ProductID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5: Staples covers P-100 and also P-108.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N5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CName -&gt; OrderID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Rows 1 and 4: Sharma Retail placed O-101 and also O-103.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City -&gt; DriverID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7: Chennai is covered by D-05 and by D-11.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N7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OrderID -&gt; DriverID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DELIVERY_DUTY rows 1 and 2: O-101 is served by D-05 and by D-09.</a:t>
                      </a:r>
                    </a:p>
                  </a:txBody>
                  <a:tcPr anchor="ctr">
                    <a:solidFill>
                      <a:srgbClr val="F4F4F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N8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SupplierID -&gt; Phone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</a:rPr>
                        <a:t>SUPPLIER_PHONE rows 1 and 2: S-01 has two numbers.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7. Candidate Keys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ORDER_LINE: start from {OrderID, ProductID} and close it.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F1 adds OrderDate, Status, CustID. F2 adds CName, Street, City. F3 adds State. F4 adds PName, Category, Price. F5 adds Qty.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All thirteen columns are reached, and neither half works alone (N1, N2), so it is the only candidate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DELIVERY_DUTY: two candidate keys, {OrderID, City} by F7 and {OrderID, DriverID} by F6.</a:t>
            </a:r>
          </a:p>
          <a:p>
            <a:pPr lvl="1">
              <a:spcAft>
                <a:spcPts val="900"/>
              </a:spcAft>
            </a:pPr>
            <a:r>
              <a:rPr sz="1400">
                <a:solidFill>
                  <a:srgbClr val="444444"/>
                </a:solidFill>
                <a:latin typeface="Calibri"/>
              </a:rPr>
              <a:t>-  That second key is exactly why it passes 3NF and still fails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SUPPLIER_PHONE: {SupplierID, Phone}, and Phone alone by F8.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Four Rules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24128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start with one bad table, then split it one rule at a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17904"/>
            <a:ext cx="1097280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1NF: every cell holds one value, and repeating groups move out.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2NF: no column depends on only part of the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3NF: no ordinary column decides another ordinary column.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BCNF: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Each step below names the dependency from section 7 that forces the split.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Where we start, Unnormalized Form (UNF)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wide table, the way a clerk keeps it in a spreadsheet.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Three cells hold lists: SupplierPhones, Items and Delivery.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Customer details are copied onto every order row.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No atomic key, so no dependency can even be written down yet.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UNF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u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2295347"/>
            <a:ext cx="11521440" cy="31634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First Normal Form (1NF)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one value per cell, and repeating groups move out.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Items become ORDER_ITEM, phones become SUPPLIER_PHONE, deliveries become DELIVERY_DUTY.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OrderID + ProductID, because N1 and N2 rule out either column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is keyed by OrderID + City, from F7.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F4 means PName and Category repeat on every line for the same product.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1NF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1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Second Normal Form (2NF)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column may depend on only part of the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ORDER_ITEM is keyed by {OrderID, ProductID}, but F4 fixes PName, Category and Price from ProductID alone.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Those three move to PRODUCT, where Price becomes UnitPrice.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Only Qty depends on the whole key (F5), so only Qty stays behind.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F2 and F3 in ORDER_MASTER both start from a non-key column.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2NF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264569"/>
            <a:ext cx="11521440" cy="522497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Third Normal Form (3NF)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no ordinary column may decide another ordinary column.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F2 (CustID -&gt; CName, Street, City) becomes CUSTOMER.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F3 (City -&gt; State) becomes CITY.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What is left of ORDER_MASTER becomes ORDERS, keeping CustID as a foreign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Still wrong: DELIVERY_DUTY passes 3NF only because every column of it belongs to some key.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3NF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3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39429"/>
            <a:ext cx="11521440" cy="507525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Boyce-Codd Normal Form (BCNF)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Rule: the left side of every dependency must be a key.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DELIVERY_DUTY has two candidate keys, {OrderID, City} and {OrderID, DriverID}, so F7 is fine.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F6 (DriverID -&gt; City) is not, because DriverID is not a key on its own.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'D-09 covers Mumbai' therefore sits on three rows, and two of them can be made to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Splitting on F6 gives DRIVER_CITY and ORDER_DRIVER, and the join on DriverID returns the original rows.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table is now in BCNF.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8. The Tables after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norm_bc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320001"/>
            <a:ext cx="11521440" cy="5114108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9. The Decomposition,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969264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1">
                <a:solidFill>
                  <a:srgbClr val="444444"/>
                </a:solidFill>
                <a:latin typeface="Calibri"/>
              </a:rPr>
              <a:t>every relation, every column, at every stage</a:t>
            </a:r>
          </a:p>
        </p:txBody>
      </p:sp>
      <p:pic>
        <p:nvPicPr>
          <p:cNvPr id="5" name="Picture 4" descr="decomp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9336" y="1463040"/>
            <a:ext cx="8493022" cy="5212079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Final Schema, 21 Tables, All in BCNF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896112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680" y="1078992"/>
            <a:ext cx="11154334" cy="559612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10. Why the Design Is Now Safe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Every fact is stored in exactly one place, so two rows can never disagree.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Correcting a product name, an address or a city's state is a single-row edit.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supplier, product or customer can exist before appearing on any order.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Deleting an order cannot wipe out the customer who placed it.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TotalAmt is calculated, not stored, so it can never fall out of step.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A movement is recorded once whether it is a shipment or a return.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WAREHOUSE has two candidate keys now, WarehouseID and ManagerID, because MANAGES is 1:1. Both are keys, so it is still in BCNF.</a:t>
            </a:r>
          </a:p>
          <a:p>
            <a:pPr>
              <a:spcAft>
                <a:spcPts val="900"/>
              </a:spcAft>
            </a:pPr>
            <a:r>
              <a:rPr sz="1600">
                <a:solidFill>
                  <a:srgbClr val="000000"/>
                </a:solidFill>
                <a:latin typeface="Calibri"/>
              </a:rPr>
              <a:t>•  One trade-off: F7, {OrderID, City} -&gt; DriverID, now needs a trigger, which DA2 will add.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3385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0000"/>
                </a:solidFill>
                <a:latin typeface="Calibri"/>
              </a:rPr>
              <a:t>11. What Comes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50976"/>
            <a:ext cx="1133856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33856"/>
            <a:ext cx="10972800" cy="5449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DA2, due 18 September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Create the 21 tables in SQL with keys and constraints, load sample data, add the BCNF trigger, and write PL/SQL for receiving stock and dispatching orders.</a:t>
            </a:r>
          </a:p>
          <a:p>
            <a:pPr>
              <a:spcAft>
                <a:spcPts val="900"/>
              </a:spcAft>
            </a:pPr>
            <a:r>
              <a:rPr sz="1700">
                <a:solidFill>
                  <a:srgbClr val="000000"/>
                </a:solidFill>
                <a:latin typeface="Calibri"/>
              </a:rPr>
              <a:t>•  DA3, due 23 October 2026</a:t>
            </a:r>
          </a:p>
          <a:p>
            <a:pPr lvl="1">
              <a:spcAft>
                <a:spcPts val="900"/>
              </a:spcAft>
            </a:pPr>
            <a:r>
              <a:rPr sz="1500">
                <a:solidFill>
                  <a:srgbClr val="444444"/>
                </a:solidFill>
                <a:latin typeface="Calibri"/>
              </a:rPr>
              <a:t>-  Rebuild on a graph database (Neo4j). Tracing a delivery back through shipment, order, warehouse and supplier is a chain of hops, one line in a graph query but a fresh join for every step in SQL.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651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0000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023360" y="3794760"/>
            <a:ext cx="4114800" cy="182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977639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444444"/>
                </a:solidFill>
                <a:latin typeface="Calibri"/>
              </a:rPr>
              <a:t>9 entities, 12 relationships, 21 tables, all in BCNF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212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000000"/>
                </a:solidFill>
                <a:latin typeface="Calibri"/>
              </a:rPr>
              <a:t>Safwaan Mohamed S (25BCE1188)   |   Avi Dhandhania (25BCE1207)   |   Priyal Bhalla (25BCE1261)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and Supply Chain Management System</dc:title>
  <dc:subject>Database Management Systems, Digital Assignment 1</dc:subject>
  <dc:creator>Avi Dhandhania</dc:creator>
  <cp:keywords/>
  <dc:description/>
  <cp:lastModifiedBy>Avi Dhandhania</cp:lastModifiedBy>
  <cp:revision>9</cp:revision>
  <dcterms:created xsi:type="dcterms:W3CDTF">2026-07-21T19:42:00Z</dcterms:created>
  <dcterms:modified xsi:type="dcterms:W3CDTF">2026-07-28T22:15:00Z</dcterms:modified>
  <cp:category/>
</cp:coreProperties>
</file>